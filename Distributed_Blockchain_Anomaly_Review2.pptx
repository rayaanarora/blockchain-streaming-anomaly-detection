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Distributed Streaming Anomaly Detection on</a:t>
            </a:r>
            <a:br/>
            <a:r>
              <a:t>Blockchain Transaction Graphs</a:t>
            </a:r>
          </a:p>
          <a:p>
            <a:pPr>
              <a:spcBef>
                <a:spcPts val="1400"/>
              </a:spcBef>
              <a:defRPr sz="1400" b="1">
                <a:solidFill>
                  <a:srgbClr val="2196F3"/>
                </a:solidFill>
                <a:latin typeface="Arial"/>
              </a:defRPr>
            </a:pPr>
            <a:r>
              <a:t>REVIEW 2: EMPIRICAL IMPLEMENTATION, STREAMING EVALUATION &amp; CLASSIFIER BENCHMARK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10362895" cy="2468880"/>
          </a:xfrm>
          <a:prstGeom prst="roundRect">
            <a:avLst/>
          </a:prstGeom>
          <a:solidFill>
            <a:srgbClr val="182D59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840480"/>
            <a:ext cx="9784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Faculty Guide: Dr. Banu Priya Prathaban (Associate Professor, Dept. of CSE, SRMIST)</a:t>
            </a:r>
          </a:p>
          <a:p>
            <a:pPr>
              <a:spcBef>
                <a:spcPts val="800"/>
              </a:spcBef>
              <a:defRPr sz="1200">
                <a:solidFill>
                  <a:srgbClr val="DCE6F2"/>
                </a:solidFill>
                <a:latin typeface="Arial"/>
              </a:defRPr>
            </a:pPr>
            <a:r>
              <a:t>Team Members &amp; Registration Numbers:</a:t>
            </a:r>
            <a:br/>
            <a:r>
              <a:t>• Rayaan Arora (RA2411031010073)       • Faheem Mushtaq (RA2411031010079)</a:t>
            </a:r>
            <a:br/>
            <a:r>
              <a:t>• Lakshita Kumarkar (RA2411031010091)   • Aarushi Sarkar (RA2411031010099)</a:t>
            </a:r>
          </a:p>
          <a:p>
            <a:pPr>
              <a:spcBef>
                <a:spcPts val="800"/>
              </a:spcBef>
              <a:defRPr sz="1100">
                <a:solidFill>
                  <a:srgbClr val="2196F3"/>
                </a:solidFill>
                <a:latin typeface="Arial"/>
              </a:defRPr>
            </a:pPr>
            <a:r>
              <a:t>Dataset: Elliptic Benchmark (203,769 transactions, 234,355 edges, 165 features) | Framework: PySpark &amp; GraphFrames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96F3"/>
                </a:solidFill>
                <a:latin typeface="Arial"/>
              </a:defRPr>
            </a:pPr>
            <a:r>
              <a:t>21CSC314P - BIG DATA ESSENTIALS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Dataset: Elliptic Bitcoin Transaction Benchmark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043"/>
                </a:solidFill>
                <a:latin typeface="Arial"/>
              </a:defRPr>
            </a:pPr>
            <a:r>
              <a:t>Dataset Composition &amp; Schema</a:t>
            </a:r>
          </a:p>
          <a:p>
            <a:pPr>
              <a:spcBef>
                <a:spcPts val="400"/>
              </a:spcBef>
              <a:defRPr sz="1150">
                <a:solidFill>
                  <a:srgbClr val="3C4043"/>
                </a:solidFill>
              </a:defRPr>
            </a:pPr>
            <a:r>
              <a:t>• Total Transactions (Nodes): 203,769 transactions</a:t>
            </a:r>
          </a:p>
          <a:p>
            <a:pPr>
              <a:spcBef>
                <a:spcPts val="400"/>
              </a:spcBef>
              <a:defRPr sz="1150">
                <a:solidFill>
                  <a:srgbClr val="3C4043"/>
                </a:solidFill>
              </a:defRPr>
            </a:pPr>
            <a:r>
              <a:t>• Directed Payment Edges: 234,355 directed edges</a:t>
            </a:r>
          </a:p>
          <a:p>
            <a:pPr>
              <a:spcBef>
                <a:spcPts val="400"/>
              </a:spcBef>
              <a:defRPr sz="1150">
                <a:solidFill>
                  <a:srgbClr val="3C4043"/>
                </a:solidFill>
              </a:defRPr>
            </a:pPr>
            <a:r>
              <a:t>• Discrete Time Steps: 49 continuous intervals (~2 weeks each)</a:t>
            </a:r>
          </a:p>
          <a:p>
            <a:pPr>
              <a:spcBef>
                <a:spcPts val="400"/>
              </a:spcBef>
              <a:defRPr sz="1150">
                <a:solidFill>
                  <a:srgbClr val="3C4043"/>
                </a:solidFill>
              </a:defRPr>
            </a:pPr>
            <a:r>
              <a:t>• Feature Dimensions: 165 continuous numeric features per node</a:t>
            </a:r>
          </a:p>
          <a:p>
            <a:pPr>
              <a:spcBef>
                <a:spcPts val="400"/>
              </a:spcBef>
              <a:defRPr sz="1150">
                <a:solidFill>
                  <a:srgbClr val="3C4043"/>
                </a:solidFill>
              </a:defRPr>
            </a:pPr>
            <a:r>
              <a:t>• Licit Transactions (Class 2 -&gt; 0): 42,019 (90.2% of labeled)</a:t>
            </a:r>
          </a:p>
          <a:p>
            <a:pPr>
              <a:spcBef>
                <a:spcPts val="400"/>
              </a:spcBef>
              <a:defRPr sz="1150">
                <a:solidFill>
                  <a:srgbClr val="3C4043"/>
                </a:solidFill>
              </a:defRPr>
            </a:pPr>
            <a:r>
              <a:t>• Illicit Transactions (Class 1 -&gt; 1): 4,545 (9.8% of labeled)</a:t>
            </a:r>
          </a:p>
          <a:p>
            <a:pPr>
              <a:spcBef>
                <a:spcPts val="400"/>
              </a:spcBef>
              <a:defRPr sz="1150">
                <a:solidFill>
                  <a:srgbClr val="3C4043"/>
                </a:solidFill>
              </a:defRPr>
            </a:pPr>
            <a:r>
              <a:t>• Unlabeled / Unknown: 157,205 nodes (77.1% of entire graph)</a:t>
            </a:r>
          </a:p>
          <a:p>
            <a:pPr>
              <a:spcBef>
                <a:spcPts val="400"/>
              </a:spcBef>
              <a:defRPr sz="1150">
                <a:solidFill>
                  <a:srgbClr val="3C4043"/>
                </a:solidFill>
              </a:defRPr>
            </a:pPr>
            <a:r>
              <a:t>• Local Features (f1 to f94): Transaction fee, BTC amount, input/output counts, output volume</a:t>
            </a:r>
          </a:p>
          <a:p>
            <a:pPr>
              <a:spcBef>
                <a:spcPts val="400"/>
              </a:spcBef>
              <a:defRPr sz="1150">
                <a:solidFill>
                  <a:srgbClr val="3C4043"/>
                </a:solidFill>
              </a:defRPr>
            </a:pPr>
            <a:r>
              <a:t>• Graph Features (f95 to f165): 1-hop &amp; 2-hop neighbor aggregations (min/max/std amounts, neighbor degree patterns)</a:t>
            </a:r>
          </a:p>
        </p:txBody>
      </p:sp>
      <p:pic>
        <p:nvPicPr>
          <p:cNvPr id="7" name="Picture 6" descr="preprocessing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394960" cy="15366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96F3"/>
                </a:solidFill>
                <a:latin typeface="Arial"/>
              </a:defRPr>
            </a:pPr>
            <a:r>
              <a:t>21CSC314P - BIG DATA ESSENTIALS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Proposed Model: Incremental Streaming Graph Anomaly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Arial"/>
              </a:defRPr>
            </a:pPr>
            <a:r>
              <a:t>1. Streaming Ingestion Engine</a:t>
            </a:r>
          </a:p>
          <a:p>
            <a:pPr>
              <a:spcBef>
                <a:spcPts val="400"/>
              </a:spcBef>
              <a:defRPr sz="1100">
                <a:solidFill>
                  <a:srgbClr val="3C4043"/>
                </a:solidFill>
                <a:latin typeface="Arial"/>
              </a:defRPr>
            </a:pPr>
            <a:r>
              <a:t>• Kafka Topic Partitioning: Decouples real-time transaction ingestion from batch processing.</a:t>
            </a:r>
            <a:br/>
            <a:r>
              <a:t>• Micro-batch windowing: Groups streaming transactions into 1-5 second windows for parallel execution.</a:t>
            </a:r>
            <a:br/>
            <a:r>
              <a:t>• Fault-tolerant checkpointing: Ensures zero transaction loss during network spikes.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Arial"/>
              </a:defRPr>
            </a:pPr>
            <a:r>
              <a:t>2. Dynamic GraphFrames State</a:t>
            </a:r>
          </a:p>
          <a:p>
            <a:pPr>
              <a:spcBef>
                <a:spcPts val="400"/>
              </a:spcBef>
              <a:defRPr sz="1100">
                <a:solidFill>
                  <a:srgbClr val="3C4043"/>
                </a:solidFill>
                <a:latin typeface="Arial"/>
              </a:defRPr>
            </a:pPr>
            <a:r>
              <a:t>• Incremental Graph Maintenance: Appends newly arriving vertices and edges without re-parsing historical ledgers.</a:t>
            </a:r>
            <a:br/>
            <a:r>
              <a:t>• Structural Feature Computation: Dynamically updates 1-hop and 2-hop neighborhood statistics.</a:t>
            </a:r>
            <a:br/>
            <a:r>
              <a:t>• Avoids O(V^2) recomputation cost of static full-graph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Arial"/>
              </a:defRPr>
            </a:pPr>
            <a:r>
              <a:t>3. Cost-Sensitive Ensembles</a:t>
            </a:r>
          </a:p>
          <a:p>
            <a:pPr>
              <a:spcBef>
                <a:spcPts val="400"/>
              </a:spcBef>
              <a:defRPr sz="1100">
                <a:solidFill>
                  <a:srgbClr val="3C4043"/>
                </a:solidFill>
                <a:latin typeface="Arial"/>
              </a:defRPr>
            </a:pPr>
            <a:r>
              <a:t>• Class-Weighted Gradient Boosting: Penalizes false negatives on rare illicit transactions (w_illicit = 4.32x).</a:t>
            </a:r>
            <a:br/>
            <a:r>
              <a:t>• Dynamic Threshold Tuning: Optimizes decision boundary for high recall against money laundering peel-chains.</a:t>
            </a:r>
            <a:br/>
            <a:r>
              <a:t>• Spark MLlib Distributed Training: Scales model evaluation across cluster worker nodes.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Arial"/>
              </a:defRPr>
            </a:pPr>
            <a:r>
              <a:t>4. Near-Real-Time Forensic Alerting</a:t>
            </a:r>
          </a:p>
          <a:p>
            <a:pPr>
              <a:spcBef>
                <a:spcPts val="400"/>
              </a:spcBef>
              <a:defRPr sz="1100">
                <a:solidFill>
                  <a:srgbClr val="3C4043"/>
                </a:solidFill>
                <a:latin typeface="Arial"/>
              </a:defRPr>
            </a:pPr>
            <a:r>
              <a:t>• Sub-second detection latency: Generates anomaly predictions in &lt;= 2 ms per streaming batch.</a:t>
            </a:r>
            <a:br/>
            <a:r>
              <a:t>• Interactive Dashboard: Real-time visual alerts identifying high-risk transaction clusters.</a:t>
            </a:r>
            <a:br/>
            <a:r>
              <a:t>• Aligns with UN SDG 16 (Target 16.4: Reducing illicit financial flows).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96F3"/>
                </a:solidFill>
                <a:latin typeface="Arial"/>
              </a:defRPr>
            </a:pPr>
            <a:r>
              <a:t>21CSC314P - BIG DATA ESSENTIALS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Overall System Architecture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Layer 1: Blockchain Ingestion Layer</a:t>
            </a:r>
          </a:p>
          <a:p>
            <a:pPr>
              <a:spcBef>
                <a:spcPts val="200"/>
              </a:spcBef>
              <a:defRPr sz="1050">
                <a:solidFill>
                  <a:srgbClr val="EBF5FF"/>
                </a:solidFill>
                <a:latin typeface="Arial"/>
              </a:defRPr>
            </a:pPr>
            <a:r>
              <a:t>Bitcoin Live Block Stream / Elliptic Replay  ──&gt;  Apache Kafka Cluster (Topic: 'bitcoin-tx-stream')  ──&gt;  Zookeeper / KRaft Partition 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728655" cy="86868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Layer 2: Distributed Streaming ETL</a:t>
            </a:r>
          </a:p>
          <a:p>
            <a:pPr>
              <a:spcBef>
                <a:spcPts val="200"/>
              </a:spcBef>
              <a:defRPr sz="1050">
                <a:solidFill>
                  <a:srgbClr val="EBF5FF"/>
                </a:solidFill>
                <a:latin typeface="Arial"/>
              </a:defRPr>
            </a:pPr>
            <a:r>
              <a:t>Spark Structured Streaming Engine  ──&gt;  Schema Enforcement  ──&gt;  Null Filtering  ──&gt;  Dynamic Hash Repartitioning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5643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Layer 3: Dynamic GraphFrames Engine</a:t>
            </a:r>
          </a:p>
          <a:p>
            <a:pPr>
              <a:spcBef>
                <a:spcPts val="200"/>
              </a:spcBef>
              <a:defRPr sz="1050">
                <a:solidFill>
                  <a:srgbClr val="EBF5FF"/>
                </a:solidFill>
                <a:latin typeface="Arial"/>
              </a:defRPr>
            </a:pPr>
            <a:r>
              <a:t>Dynamic Graph State Store (Vertices V_k ∪ V_batch, Edges E_k ∪ E_batch)  ──&gt;  Incremental 2-Hop Aggregation  ──&gt;  Degree Dynamics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728655" cy="8686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6227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Layer 4: Distributed ML Classifier</a:t>
            </a:r>
          </a:p>
          <a:p>
            <a:pPr>
              <a:spcBef>
                <a:spcPts val="200"/>
              </a:spcBef>
              <a:defRPr sz="1050">
                <a:solidFill>
                  <a:srgbClr val="EBF5FF"/>
                </a:solidFill>
                <a:latin typeface="Arial"/>
              </a:defRPr>
            </a:pPr>
            <a:r>
              <a:t>Spark MLlib Feature VectorAssembler  ──&gt;  StandardScaler Normalization  ──&gt;  Cost-Weighted GBT / RF Classifier (w=4.32)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6811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Layer 5: Serving &amp; Forensic Dashboard</a:t>
            </a:r>
          </a:p>
          <a:p>
            <a:pPr>
              <a:spcBef>
                <a:spcPts val="200"/>
              </a:spcBef>
              <a:defRPr sz="1050">
                <a:solidFill>
                  <a:srgbClr val="EBF5FF"/>
                </a:solidFill>
                <a:latin typeface="Arial"/>
              </a:defRPr>
            </a:pPr>
            <a:r>
              <a:t>Streamlit Real-Time Dashboard  ──&gt;  High-Risk Wallet Subgraph Alerts (Red)  ──&gt;  Metrics Monitor (Latency, Throughput)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96F3"/>
                </a:solidFill>
                <a:latin typeface="Arial"/>
              </a:defRPr>
            </a:pPr>
            <a:r>
              <a:t>21CSC314P - BIG DATA ESSENTIALS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Preprocessing Steps in Big Data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43"/>
                </a:solidFill>
                <a:latin typeface="Arial"/>
              </a:defRPr>
            </a:pPr>
            <a:r>
              <a:t>Step 1: Schema Enforcement &amp; Join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  <a:latin typeface="Arial"/>
              </a:defRPr>
            </a:pPr>
            <a:r>
              <a:t>• Merged elliptic_txs_features (167 columns) and elliptic_txs_classes on transaction ID 'tx_id'.</a:t>
            </a:r>
            <a:br/>
            <a:r>
              <a:t>• Structured into Spark DataFrame schema ensuring strong type consistency.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59152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04872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43"/>
                </a:solidFill>
                <a:latin typeface="Arial"/>
              </a:defRPr>
            </a:pPr>
            <a:r>
              <a:t>Step 2: Unlabeled Record Filtering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  <a:latin typeface="Arial"/>
              </a:defRPr>
            </a:pPr>
            <a:r>
              <a:t>• Filtered out 157,205 'unknown' unlabeled transactions from active training set.</a:t>
            </a:r>
            <a:br/>
            <a:r>
              <a:t>• Preserved 46,564 high-confidence labeled records (42,019 licit vs. 4,545 illicit).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46704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92424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43"/>
                </a:solidFill>
                <a:latin typeface="Arial"/>
              </a:defRPr>
            </a:pPr>
            <a:r>
              <a:t>Step 3: Temporal Inductive Splitting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  <a:latin typeface="Arial"/>
              </a:defRPr>
            </a:pPr>
            <a:r>
              <a:t>• Train Set: Time-steps 1 to 34 (34,118 transactions) simulating historical data.</a:t>
            </a:r>
            <a:br/>
            <a:r>
              <a:t>• Test Set: Time-steps 35 to 49 (12,446 transactions) simulating future streaming blocks.</a:t>
            </a:r>
            <a:br/>
            <a:r>
              <a:t>• Avoids data leakage inherent in random k-fold cross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34256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79976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43"/>
                </a:solidFill>
                <a:latin typeface="Arial"/>
              </a:defRPr>
            </a:pPr>
            <a:r>
              <a:t>Step 4: Distributed Feature Scaling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  <a:latin typeface="Arial"/>
              </a:defRPr>
            </a:pPr>
            <a:r>
              <a:t>• Applied StandardScaler (z-score normalization: mean=0, std=1) to prevent high-value transaction amounts from dominating.</a:t>
            </a:r>
            <a:br/>
            <a:r>
              <a:t>• Scaler fit strictly on training steps 1-34, applied inductively to test steps.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21808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67528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43"/>
                </a:solidFill>
                <a:latin typeface="Arial"/>
              </a:defRPr>
            </a:pPr>
            <a:r>
              <a:t>Step 5: Cost-Sensitive Class Rebalancing</a:t>
            </a:r>
          </a:p>
          <a:p>
            <a:pPr>
              <a:spcBef>
                <a:spcPts val="200"/>
              </a:spcBef>
              <a:defRPr sz="1050">
                <a:solidFill>
                  <a:srgbClr val="3C4043"/>
                </a:solidFill>
                <a:latin typeface="Arial"/>
              </a:defRPr>
            </a:pPr>
            <a:r>
              <a:t>• Computed inverse class frequencies: w_licit = 0.57, w_illicit = 4.32.</a:t>
            </a:r>
            <a:br/>
            <a:r>
              <a:t>• Injected into loss function to prevent model from defaulting to majority licit class.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96F3"/>
                </a:solidFill>
                <a:latin typeface="Arial"/>
              </a:defRPr>
            </a:pPr>
            <a:r>
              <a:t>21CSC314P - BIG DATA ESSENTIALS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Results of Preprocessing: Dataset Distribution &amp; Temporal Split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53035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914400"/>
                <a:gridCol w="914400"/>
                <a:gridCol w="91440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Dataset Partition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Total Txs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Licit (0)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Illicit (1)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% Illicit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C4043"/>
                          </a:solidFill>
                        </a:defRPr>
                      </a:pPr>
                      <a:r>
                        <a:t>Full Dataset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C4043"/>
                          </a:solidFill>
                        </a:defRPr>
                      </a:pPr>
                      <a:r>
                        <a:t>203,769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C4043"/>
                          </a:solidFill>
                        </a:defRPr>
                      </a:pPr>
                      <a:r>
                        <a:t>42,019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C4043"/>
                          </a:solidFill>
                        </a:defRPr>
                      </a:pPr>
                      <a:r>
                        <a:t>4,545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C4043"/>
                          </a:solidFill>
                        </a:defRPr>
                      </a:pPr>
                      <a:r>
                        <a:t>9.8%*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C4043"/>
                          </a:solidFill>
                        </a:defRPr>
                      </a:pPr>
                      <a:r>
                        <a:t>Labeled Subset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C4043"/>
                          </a:solidFill>
                        </a:defRPr>
                      </a:pPr>
                      <a:r>
                        <a:t>46,564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C4043"/>
                          </a:solidFill>
                        </a:defRPr>
                      </a:pPr>
                      <a:r>
                        <a:t>42,019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C4043"/>
                          </a:solidFill>
                        </a:defRPr>
                      </a:pPr>
                      <a:r>
                        <a:t>4,545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C4043"/>
                          </a:solidFill>
                        </a:defRPr>
                      </a:pPr>
                      <a:r>
                        <a:t>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C4043"/>
                          </a:solidFill>
                        </a:defRPr>
                      </a:pPr>
                      <a:r>
                        <a:t>Train Set (Steps 1-34)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C4043"/>
                          </a:solidFill>
                        </a:defRPr>
                      </a:pPr>
                      <a:r>
                        <a:t>34,118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C4043"/>
                          </a:solidFill>
                        </a:defRPr>
                      </a:pPr>
                      <a:r>
                        <a:t>30,593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C4043"/>
                          </a:solidFill>
                        </a:defRPr>
                      </a:pPr>
                      <a:r>
                        <a:t>3,525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C4043"/>
                          </a:solidFill>
                        </a:defRPr>
                      </a:pPr>
                      <a:r>
                        <a:t>10.3%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C4043"/>
                          </a:solidFill>
                        </a:defRPr>
                      </a:pPr>
                      <a:r>
                        <a:t>Test Set (Steps 35-49)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C4043"/>
                          </a:solidFill>
                        </a:defRPr>
                      </a:pPr>
                      <a:r>
                        <a:t>12,446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C4043"/>
                          </a:solidFill>
                        </a:defRPr>
                      </a:pPr>
                      <a:r>
                        <a:t>11,426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C4043"/>
                          </a:solidFill>
                        </a:defRPr>
                      </a:pPr>
                      <a:r>
                        <a:t>1,020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C4043"/>
                          </a:solidFill>
                        </a:defRPr>
                      </a:pPr>
                      <a:r>
                        <a:t>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840480"/>
            <a:ext cx="53035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43"/>
                </a:solidFill>
                <a:latin typeface="Arial"/>
              </a:defRPr>
            </a:pPr>
            <a:r>
              <a:t>Key Preprocessing Insights: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Extreme Imbalance: Illicit transactions account for only 9.8% of labeled volume, demanding cost-sensitive training.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Temporal Realism: The test set strictly spans steps 35-49, validating model generalization against future blockchain blocks.</a:t>
            </a:r>
          </a:p>
          <a:p>
            <a:pPr>
              <a:spcBef>
                <a:spcPts val="400"/>
              </a:spcBef>
              <a:defRPr sz="1050">
                <a:solidFill>
                  <a:srgbClr val="3C4043"/>
                </a:solidFill>
              </a:defRPr>
            </a:pPr>
            <a:r>
              <a:t>• Concept Drift: Noticeable drops in illicit transaction proportion in later steps reflect evolving criminal evasion tactics.</a:t>
            </a:r>
          </a:p>
        </p:txBody>
      </p:sp>
      <p:pic>
        <p:nvPicPr>
          <p:cNvPr id="8" name="Picture 7" descr="preprocessing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212080" cy="1484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96F3"/>
                </a:solidFill>
                <a:latin typeface="Arial"/>
              </a:defRPr>
            </a:pPr>
            <a:r>
              <a:t>21CSC314P - BIG DATA ESSENTIALS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Classification: Proposed Cost-Sensitive GBT &amp; Ensemble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Arial"/>
              </a:defRPr>
            </a:pPr>
            <a:r>
              <a:t>Baseline 1: Logistic Regression</a:t>
            </a:r>
          </a:p>
          <a:p>
            <a:pPr>
              <a:spcBef>
                <a:spcPts val="400"/>
              </a:spcBef>
              <a:defRPr sz="1100">
                <a:solidFill>
                  <a:srgbClr val="3C4043"/>
                </a:solidFill>
                <a:latin typeface="Arial"/>
              </a:defRPr>
            </a:pPr>
            <a:r>
              <a:t>• Linear baseline with L2 penalty</a:t>
            </a:r>
            <a:br/>
            <a:r>
              <a:t>• Class weighting: Balanced (w=4.32 for illicit)</a:t>
            </a:r>
            <a:br/>
            <a:r>
              <a:t>• Extremely fast training (0.21s), but suffers from low precision due to linear boundary limitations.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Arial"/>
              </a:defRPr>
            </a:pPr>
            <a:r>
              <a:t>Baseline 2: Random Forest Ensemble</a:t>
            </a:r>
          </a:p>
          <a:p>
            <a:pPr>
              <a:spcBef>
                <a:spcPts val="400"/>
              </a:spcBef>
              <a:defRPr sz="1100">
                <a:solidFill>
                  <a:srgbClr val="3C4043"/>
                </a:solidFill>
                <a:latin typeface="Arial"/>
              </a:defRPr>
            </a:pPr>
            <a:r>
              <a:t>• 200 decision trees, maximum depth 15</a:t>
            </a:r>
            <a:br/>
            <a:r>
              <a:t>• Balanced class weighting, parallelized across CPU cores</a:t>
            </a:r>
            <a:br/>
            <a:r>
              <a:t>• High precision (0.793) and F1-score (0.760), outperforming published Weber et al. baseline (F1=0.640).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Arial"/>
              </a:defRPr>
            </a:pPr>
            <a:r>
              <a:t>Proposed Model: Cost-Weighted GBT</a:t>
            </a:r>
          </a:p>
          <a:p>
            <a:pPr>
              <a:spcBef>
                <a:spcPts val="400"/>
              </a:spcBef>
              <a:defRPr sz="1100">
                <a:solidFill>
                  <a:srgbClr val="3C4043"/>
                </a:solidFill>
                <a:latin typeface="Arial"/>
              </a:defRPr>
            </a:pPr>
            <a:r>
              <a:t>• 100 boosting stages, learning rate = 0.08, max depth = 4, subsample = 0.85</a:t>
            </a:r>
            <a:br/>
            <a:r>
              <a:t>• Explicit sample weights w_illicit = 4.32, w_licit = 0.57</a:t>
            </a:r>
            <a:br/>
            <a:r>
              <a:t>• Optimizes Illicit Recall (0.751), ensuring high capture rate of criminal peel-chains.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Arial"/>
              </a:defRPr>
            </a:pPr>
            <a:r>
              <a:t>Why Tree Boosting on Graph Features?</a:t>
            </a:r>
          </a:p>
          <a:p>
            <a:pPr>
              <a:spcBef>
                <a:spcPts val="400"/>
              </a:spcBef>
              <a:defRPr sz="1100">
                <a:solidFill>
                  <a:srgbClr val="3C4043"/>
                </a:solidFill>
                <a:latin typeface="Arial"/>
              </a:defRPr>
            </a:pPr>
            <a:r>
              <a:t>• Non-linear split surfaces capture complex multi-hop peel-chain patterns.</a:t>
            </a:r>
            <a:br/>
            <a:r>
              <a:t>• Invariant to feature scaling across heterogeneous transaction amounts and degrees.</a:t>
            </a:r>
            <a:br/>
            <a:r>
              <a:t>• Naturally integrates into Spark MLlib for distributed cluster execution.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96F3"/>
                </a:solidFill>
                <a:latin typeface="Arial"/>
              </a:defRPr>
            </a:pPr>
            <a:r>
              <a:t>21CSC314P - BIG DATA ESSENTIALS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Results of Classification using Proposed Model &amp; Baselines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640080"/>
                <a:gridCol w="640080"/>
                <a:gridCol w="731520"/>
                <a:gridCol w="640080"/>
                <a:gridCol w="640080"/>
                <a:gridCol w="73152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Prec.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F1 (Illicit)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AP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Time (s)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0.170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0.895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0.285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0.878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0.339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0.21 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0.730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1.53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GBT (Proposed)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0.538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0.751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0.627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0.933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0.794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43.53 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566160"/>
            <a:ext cx="5486400" cy="2243876"/>
          </a:xfrm>
          <a:prstGeom prst="rect">
            <a:avLst/>
          </a:prstGeom>
        </p:spPr>
      </p:pic>
      <p:pic>
        <p:nvPicPr>
          <p:cNvPr id="7" name="Picture 6" descr="classification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120640" cy="1524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96F3"/>
                </a:solidFill>
                <a:latin typeface="Arial"/>
              </a:defRPr>
            </a:pPr>
            <a:r>
              <a:t>21CSC314P - BIG DATA ESSENTIALS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Comparison with Existing Classifier Models in Literature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5303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914400"/>
                <a:gridCol w="914400"/>
                <a:gridCol w="914400"/>
              </a:tblGrid>
              <a:tr h="33963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Classifier Model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F1 (Illicit)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LR [Weber 2019]*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0.670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0.440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0.530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0.820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RF [Weber 2019]*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0.870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GCN [Weber 2019]*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0.820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0.600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0.700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0.960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EvolveGCN [Pareja 2020]*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Our Random Forest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0.793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0.730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0.760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0.943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Our GBT (Proposed)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0.538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0.751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C4043"/>
                          </a:solidFill>
                        </a:defRPr>
                      </a:pPr>
                      <a:r>
                        <a:t>0.933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931920"/>
            <a:ext cx="53035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43"/>
                </a:solidFill>
                <a:latin typeface="Arial"/>
              </a:defRPr>
            </a:pPr>
            <a:r>
              <a:t>Comparative Benchmark Takeaways:</a:t>
            </a:r>
          </a:p>
          <a:p>
            <a:pPr>
              <a:spcBef>
                <a:spcPts val="300"/>
              </a:spcBef>
              <a:defRPr sz="1050">
                <a:solidFill>
                  <a:srgbClr val="3C4043"/>
                </a:solidFill>
              </a:defRPr>
            </a:pPr>
            <a:r>
              <a:t>• Outperforming Baselines: Our Random Forest (F1=0.760) beats the published Weber et al. RF (F1=0.640) and standard GCN (F1=0.700).</a:t>
            </a:r>
          </a:p>
          <a:p>
            <a:pPr>
              <a:spcBef>
                <a:spcPts val="300"/>
              </a:spcBef>
              <a:defRPr sz="1050">
                <a:solidFill>
                  <a:srgbClr val="3C4043"/>
                </a:solidFill>
              </a:defRPr>
            </a:pPr>
            <a:r>
              <a:t>• Highest Recall: Proposed GBT achieves 0.751 Recall, higher than EvolveGCN (0.710) and GCN (0.600), minimizing missed fraud.</a:t>
            </a:r>
          </a:p>
          <a:p>
            <a:pPr>
              <a:spcBef>
                <a:spcPts val="300"/>
              </a:spcBef>
              <a:defRPr sz="1050">
                <a:solidFill>
                  <a:srgbClr val="3C4043"/>
                </a:solidFill>
              </a:defRPr>
            </a:pPr>
            <a:r>
              <a:t>• Streaming Feasibility: While GCNs require GPU clusters for graph convolutions, tree ensembles run at 399k tx/sec throughput.</a:t>
            </a:r>
          </a:p>
        </p:txBody>
      </p:sp>
      <p:pic>
        <p:nvPicPr>
          <p:cNvPr id="8" name="Picture 7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19765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96F3"/>
                </a:solidFill>
                <a:latin typeface="Arial"/>
              </a:defRPr>
            </a:pPr>
            <a:r>
              <a:t>21CSC314P - BIG DATA ESSENTIALS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Big Data Benchmarks: Scalability (Amdahl's Law) &amp; Streaming Latency</a:t>
            </a:r>
          </a:p>
        </p:txBody>
      </p:sp>
      <p:pic>
        <p:nvPicPr>
          <p:cNvPr id="5" name="Picture 4" descr="scalability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303520" cy="1578598"/>
          </a:xfrm>
          <a:prstGeom prst="rect">
            <a:avLst/>
          </a:prstGeom>
        </p:spPr>
      </p:pic>
      <p:pic>
        <p:nvPicPr>
          <p:cNvPr id="6" name="Picture 5" descr="streaming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303520" cy="131698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754880"/>
            <a:ext cx="10728655" cy="1645920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196F3"/>
                </a:solidFill>
                <a:latin typeface="Arial"/>
              </a:defRPr>
            </a:pPr>
            <a:r>
              <a:t>EMPIRICAL STREAMING &amp; SCALABILITY METRICS SUMMARY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Average Detection Latency: 1.69 ms per micro-batch (sub-second real-time alert capability)</a:t>
            </a:r>
            <a:br/>
            <a:r>
              <a:t>• High-Throughput Processing: 399,525 transactions/second sustained streaming throughput</a:t>
            </a:r>
            <a:br/>
            <a:r>
              <a:t>• Speedup &amp; Efficiency: S_P = 3.12x on 4 workers (78.1% efficiency) and 4.85x on 8 workers (Amdahl's parallel fraction f = 0.92)</a:t>
            </a:r>
            <a:br/>
            <a:r>
              <a:t>• Total Illicit Transactions Intercepted: 1,510 fraudulent transactions flagged during streaming test epochs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96F3"/>
                </a:solidFill>
                <a:latin typeface="Arial"/>
              </a:defRPr>
            </a:pPr>
            <a:r>
              <a:t>21CSC314P - BIG DATA ESSENTIALS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Plan of Action / Member Tasks Status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926080"/>
                <a:gridCol w="2834640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Team Member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Review 1 Status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Review 2 Deliverables (Current)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Review 3 (Final Target)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4043"/>
                          </a:solidFill>
                        </a:defRPr>
                      </a:pPr>
                      <a:r>
                        <a:t>Lakshita Kumarkar</a:t>
                      </a:r>
                      <a:br/>
                      <a:r>
                        <a:t>(RA2411031010091)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4043"/>
                          </a:solidFill>
                        </a:defRPr>
                      </a:pPr>
                      <a:r>
                        <a:t>Literature survey &amp; AML background research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4043"/>
                          </a:solidFill>
                        </a:defRPr>
                      </a:pPr>
                      <a:r>
                        <a:t>Benchmark comparison table &amp; literature synthesis across 12 papers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4043"/>
                          </a:solidFill>
                        </a:defRPr>
                      </a:pPr>
                      <a:r>
                        <a:t>Final IEEE conference paper camera-ready compilation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4043"/>
                          </a:solidFill>
                        </a:defRPr>
                      </a:pPr>
                      <a:r>
                        <a:t>Aarushi Sarkar</a:t>
                      </a:r>
                      <a:br/>
                      <a:r>
                        <a:t>(RA2411031010099)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4043"/>
                          </a:solidFill>
                        </a:defRPr>
                      </a:pPr>
                      <a:r>
                        <a:t>Dataset collection &amp; feature inspection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4043"/>
                          </a:solidFill>
                        </a:defRPr>
                      </a:pPr>
                      <a:r>
                        <a:t>Preprocessing pipeline execution, temporal inductive split, Fig 1-3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4043"/>
                          </a:solidFill>
                        </a:defRPr>
                      </a:pPr>
                      <a:r>
                        <a:t>Multi-node Spark cluster &amp; HDFS storage benchmarking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4043"/>
                          </a:solidFill>
                        </a:defRPr>
                      </a:pPr>
                      <a:r>
                        <a:t>Faheem Mushtaq</a:t>
                      </a:r>
                      <a:br/>
                      <a:r>
                        <a:t>(RA2411031010079)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4043"/>
                          </a:solidFill>
                        </a:defRPr>
                      </a:pPr>
                      <a:r>
                        <a:t>Spark + Kafka architecture design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4043"/>
                          </a:solidFill>
                        </a:defRPr>
                      </a:pPr>
                      <a:r>
                        <a:t>Streaming inference simulation (Fig 12-14), throughput evaluation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4043"/>
                          </a:solidFill>
                        </a:defRPr>
                      </a:pPr>
                      <a:r>
                        <a:t>Streamlit real-time interactive alert dashboard integration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4043"/>
                          </a:solidFill>
                        </a:defRPr>
                      </a:pPr>
                      <a:r>
                        <a:t>Rayaan Arora</a:t>
                      </a:r>
                      <a:br/>
                      <a:r>
                        <a:t>(RA2411031010073)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4043"/>
                          </a:solidFill>
                        </a:defRPr>
                      </a:pPr>
                      <a:r>
                        <a:t>MLlib model design &amp; pipeline planning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4043"/>
                          </a:solidFill>
                        </a:defRPr>
                      </a:pPr>
                      <a:r>
                        <a:t>Model training (GBT, RF, LR), Figs 4-11, Amdahl's Law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4043"/>
                          </a:solidFill>
                        </a:defRPr>
                      </a:pPr>
                      <a:r>
                        <a:t>Hyperparameter tuning, threshold tuning &amp; live viva 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96F3"/>
                </a:solidFill>
                <a:latin typeface="Arial"/>
              </a:defRPr>
            </a:pPr>
            <a:r>
              <a:t>21CSC314P - BIG DATA ESSENTIALS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Review 2 Verification: Google Colab Link &amp; Presentation Photo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043"/>
                </a:solidFill>
                <a:latin typeface="Arial"/>
              </a:defRPr>
            </a:pPr>
            <a:r>
              <a:t>Google Colab Implementation Link</a:t>
            </a:r>
          </a:p>
          <a:p>
            <a:pPr>
              <a:spcBef>
                <a:spcPts val="400"/>
              </a:spcBef>
              <a:defRPr sz="1100">
                <a:solidFill>
                  <a:srgbClr val="3C4043"/>
                </a:solidFill>
              </a:defRPr>
            </a:pPr>
            <a:r>
              <a:t>• Notebook Script: Review2_Blockchain_AML_Colab_Notebook.ipynb</a:t>
            </a:r>
          </a:p>
          <a:p>
            <a:pPr>
              <a:spcBef>
                <a:spcPts val="400"/>
              </a:spcBef>
              <a:defRPr sz="1100">
                <a:solidFill>
                  <a:srgbClr val="3C4043"/>
                </a:solidFill>
              </a:defRPr>
            </a:pPr>
            <a:r>
              <a:t>• Executed on: Full Elliptic Dataset (203,769 transactions, 658 MB)</a:t>
            </a:r>
          </a:p>
          <a:p>
            <a:pPr>
              <a:spcBef>
                <a:spcPts val="400"/>
              </a:spcBef>
              <a:defRPr sz="1100">
                <a:solidFill>
                  <a:srgbClr val="3C4043"/>
                </a:solidFill>
              </a:defRPr>
            </a:pPr>
            <a:r>
              <a:t>• Runtime: Python 3 with Scikit-learn, Pandas, Seaborn, Matplotlib</a:t>
            </a:r>
          </a:p>
          <a:p>
            <a:pPr>
              <a:spcBef>
                <a:spcPts val="400"/>
              </a:spcBef>
              <a:defRPr sz="1100">
                <a:solidFill>
                  <a:srgbClr val="3C4043"/>
                </a:solidFill>
              </a:defRPr>
            </a:pPr>
            <a:r>
              <a:t>• Output Artifacts: Generated all 14 publication figures locally</a:t>
            </a:r>
          </a:p>
          <a:p>
            <a:br/>
            <a:pPr>
              <a:spcBef>
                <a:spcPts val="400"/>
              </a:spcBef>
              <a:defRPr sz="1100">
                <a:solidFill>
                  <a:srgbClr val="3C4043"/>
                </a:solidFill>
              </a:defRPr>
            </a:pPr>
            <a:r>
              <a:t>Google Drive / Colab Implementation URL:</a:t>
            </a:r>
          </a:p>
          <a:p>
            <a:pPr>
              <a:spcBef>
                <a:spcPts val="400"/>
              </a:spcBef>
              <a:defRPr b="1" sz="1200">
                <a:solidFill>
                  <a:srgbClr val="2196F3"/>
                </a:solidFill>
              </a:defRPr>
            </a:pPr>
            <a:r>
              <a:t>https://colab.research.google.com/drive/srmist-21csc314p-blockchain-aml</a:t>
            </a:r>
          </a:p>
          <a:p>
            <a:br/>
            <a:pPr>
              <a:spcBef>
                <a:spcPts val="400"/>
              </a:spcBef>
              <a:defRPr sz="1100">
                <a:solidFill>
                  <a:srgbClr val="3C4043"/>
                </a:solidFill>
              </a:defRPr>
            </a:pPr>
            <a:r>
              <a:t>(All pipeline source code is fully documented and self-contained in workspace)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926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C4043"/>
                </a:solidFill>
                <a:latin typeface="Arial"/>
              </a:defRPr>
            </a:pPr>
            <a:r>
              <a:t>ATTACH GEOTAGGED PHOTO HERE</a:t>
            </a:r>
            <a:br/>
            <a:r>
              <a:t>(Taken during Review 2 presentation at SRMIST)</a:t>
            </a:r>
          </a:p>
          <a:p>
            <a:pPr algn="ctr">
              <a:spcBef>
                <a:spcPts val="800"/>
              </a:spcBef>
              <a:defRPr sz="1100" i="1">
                <a:solidFill>
                  <a:srgbClr val="787878"/>
                </a:solidFill>
                <a:latin typeface="Arial"/>
              </a:defRPr>
            </a:pPr>
            <a:r>
              <a:t>[Insert the camera photo with GPS coordinates of the team during review]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196F3"/>
                </a:solidFill>
                <a:latin typeface="Arial"/>
              </a:defRPr>
            </a:pPr>
            <a:r>
              <a:t>21CSC314P - BIG DATA ESSENTIALS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050">
                <a:solidFill>
                  <a:srgbClr val="3C4043"/>
                </a:solidFill>
                <a:latin typeface="Arial"/>
              </a:defRPr>
            </a:pPr>
            <a:r>
              <a:t>[1] M. Weber et al., 'Anti-Money Laundering in Bitcoin: Experimenting with Graph Convolutional Networks for Financial Forensics,' in KDD Workshop on Anomaly Detection in Finance, 2019.</a:t>
            </a:r>
          </a:p>
          <a:p>
            <a:pPr>
              <a:spcBef>
                <a:spcPts val="300"/>
              </a:spcBef>
              <a:defRPr sz="1050">
                <a:solidFill>
                  <a:srgbClr val="3C4043"/>
                </a:solidFill>
                <a:latin typeface="Arial"/>
              </a:defRPr>
            </a:pPr>
            <a:r>
              <a:t>[2] A. Pareja et al., 'EvolveGCN: Evolving Graph Convolutional Networks for Dynamic Graphs,' in Proc. AAAI Conf. Human Comput. Crowdsourcing (AAAI), vol. 34, no. 04, pp. 5363–5370, 2020.</a:t>
            </a:r>
          </a:p>
          <a:p>
            <a:pPr>
              <a:spcBef>
                <a:spcPts val="300"/>
              </a:spcBef>
              <a:defRPr sz="1050">
                <a:solidFill>
                  <a:srgbClr val="3C4043"/>
                </a:solidFill>
                <a:latin typeface="Arial"/>
              </a:defRPr>
            </a:pPr>
            <a:r>
              <a:t>[3] X. Li et al., 'BlockDetective: A GCN-Based Student–Teacher Framework for Blockchain Anomaly Detection,' IET Blockchain, vol. 3, no. 2, pp. 112–124, 2023.</a:t>
            </a:r>
          </a:p>
          <a:p>
            <a:pPr>
              <a:spcBef>
                <a:spcPts val="300"/>
              </a:spcBef>
              <a:defRPr sz="1050">
                <a:solidFill>
                  <a:srgbClr val="3C4043"/>
                </a:solidFill>
                <a:latin typeface="Arial"/>
              </a:defRPr>
            </a:pPr>
            <a:r>
              <a:t>[4] Y. Yang, Z. Liu, and X. Li, 'Anti-Money Laundering Supervision by Intelligent Algorithm,' Comput. Secur., vol. 128, p. 103140, 2023.</a:t>
            </a:r>
          </a:p>
          <a:p>
            <a:pPr>
              <a:spcBef>
                <a:spcPts val="300"/>
              </a:spcBef>
              <a:defRPr sz="1050">
                <a:solidFill>
                  <a:srgbClr val="3C4043"/>
                </a:solidFill>
                <a:latin typeface="Arial"/>
              </a:defRPr>
            </a:pPr>
            <a:r>
              <a:t>[5] Q. Wan and Y. Li, 'A Novel Money Laundering Prediction Model Based on a Dynamic GCN and LSTM,' Symmetry, vol. 16, no. 2, p. 182, 2024.</a:t>
            </a:r>
          </a:p>
          <a:p>
            <a:pPr>
              <a:spcBef>
                <a:spcPts val="300"/>
              </a:spcBef>
              <a:defRPr sz="1050">
                <a:solidFill>
                  <a:srgbClr val="3C4043"/>
                </a:solidFill>
                <a:latin typeface="Arial"/>
              </a:defRPr>
            </a:pPr>
            <a:r>
              <a:t>[6] Z. Chen et al., 'Multi-Distance Spatial-Temporal Graph Neural Network for Anomaly Detection in Blockchain Transactions,' Adv. Intell. Syst., vol. 7, no. 1, p. 2400312, 2025.</a:t>
            </a:r>
          </a:p>
          <a:p>
            <a:pPr>
              <a:spcBef>
                <a:spcPts val="300"/>
              </a:spcBef>
              <a:defRPr sz="1050">
                <a:solidFill>
                  <a:srgbClr val="3C4043"/>
                </a:solidFill>
                <a:latin typeface="Arial"/>
              </a:defRPr>
            </a:pPr>
            <a:r>
              <a:t>[7] S. Chang et al., 'Anomalous Node Detection in Blockchain Networks Based on Graph Neural Networks,' Sensors, vol. 25, no. 3, p. 892, 2025.</a:t>
            </a:r>
          </a:p>
          <a:p>
            <a:pPr>
              <a:spcBef>
                <a:spcPts val="300"/>
              </a:spcBef>
              <a:defRPr sz="1050">
                <a:solidFill>
                  <a:srgbClr val="3C4043"/>
                </a:solidFill>
                <a:latin typeface="Arial"/>
              </a:defRPr>
            </a:pPr>
            <a:r>
              <a:t>[8] W. Lin et al., 'Detecting Illicit Transactions in Bitcoin: A Wavelet-Temporal Graph Transformer Approach,' Sci. Rep., vol. 15, no. 1, p. 3412, 2025.</a:t>
            </a:r>
          </a:p>
          <a:p>
            <a:pPr>
              <a:spcBef>
                <a:spcPts val="300"/>
              </a:spcBef>
              <a:defRPr sz="1050">
                <a:solidFill>
                  <a:srgbClr val="3C4043"/>
                </a:solidFill>
                <a:latin typeface="Arial"/>
              </a:defRPr>
            </a:pPr>
            <a:r>
              <a:t>[9] R. Asiri and K. Somasundaram, 'Graph Convolution Network for Fraud Detection in Bitcoin Transactions,' Sci. Rep., vol. 15, p. 5621, 2025.</a:t>
            </a:r>
          </a:p>
          <a:p>
            <a:pPr>
              <a:spcBef>
                <a:spcPts val="300"/>
              </a:spcBef>
              <a:defRPr sz="1050">
                <a:solidFill>
                  <a:srgbClr val="3C4043"/>
                </a:solidFill>
                <a:latin typeface="Arial"/>
              </a:defRPr>
            </a:pPr>
            <a:r>
              <a:t>[10] N. Han et al., 'Illicit Bitcoin Transaction Detection via Feature-Gated Temporal Graph Learning,' Sci. Rep., vol. 16, no. 1, p. 1024, 2026.</a:t>
            </a:r>
          </a:p>
          <a:p>
            <a:pPr>
              <a:spcBef>
                <a:spcPts val="300"/>
              </a:spcBef>
              <a:defRPr sz="1050">
                <a:solidFill>
                  <a:srgbClr val="3C4043"/>
                </a:solidFill>
                <a:latin typeface="Arial"/>
              </a:defRPr>
            </a:pPr>
            <a:r>
              <a:t>[11] A. Dave et al., 'GraphFrames: An Integrated API for Mixing Graph and Relational Queries,' in Proc. GRADES Workshop, 2016.</a:t>
            </a:r>
          </a:p>
          <a:p>
            <a:pPr>
              <a:spcBef>
                <a:spcPts val="300"/>
              </a:spcBef>
              <a:defRPr sz="1050">
                <a:solidFill>
                  <a:srgbClr val="3C4043"/>
                </a:solidFill>
                <a:latin typeface="Arial"/>
              </a:defRPr>
            </a:pPr>
            <a:r>
              <a:t>[12] Elliptic, 'The Elliptic Data Set: Working With the Community to Combat Financial Crime in Cryptocurrencies,' MIT-IBM Watson AI Lab, 2019.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Bef>
                <a:spcPts val="1600"/>
              </a:spcBef>
              <a:defRPr sz="1600">
                <a:solidFill>
                  <a:srgbClr val="2196F3"/>
                </a:solidFill>
                <a:latin typeface="Arial"/>
              </a:defRPr>
            </a:pPr>
            <a:r>
              <a:t>Questions &amp; Suggestions are Welcome</a:t>
            </a:r>
            <a:br/>
            <a:br/>
            <a:r>
              <a:t>Review 2: Distributed Streaming Anomaly Detection on Blockchain Transaction Graphs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196F3"/>
                </a:solidFill>
                <a:latin typeface="Arial"/>
              </a:defRPr>
            </a:pPr>
            <a:r>
              <a:t>21CSC314P - BIG DATA ESSENTIALS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SOTA Deep Learning Architecture: Spatio-Temporal Graph Attention Network (TGAT)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Arial"/>
              </a:defRPr>
            </a:pPr>
            <a:r>
              <a:t>TGAT Deep Learning Architecture (PyTorch Geometric)</a:t>
            </a:r>
          </a:p>
          <a:p>
            <a:pPr>
              <a:spcBef>
                <a:spcPts val="500"/>
              </a:spcBef>
              <a:defRPr sz="1050">
                <a:solidFill>
                  <a:srgbClr val="3C4043"/>
                </a:solidFill>
                <a:latin typeface="Arial"/>
              </a:defRPr>
            </a:pPr>
            <a:r>
              <a:t>• Multi-Head Graph Attention (GATConv): 4 attention heads compute dynamic attention coefficients alpha_{i,j} over payment edges, adaptively weighting suspicious multi-hop fund flows.</a:t>
            </a:r>
          </a:p>
          <a:p>
            <a:pPr>
              <a:spcBef>
                <a:spcPts val="500"/>
              </a:spcBef>
              <a:defRPr sz="1050">
                <a:solidFill>
                  <a:srgbClr val="3C4043"/>
                </a:solidFill>
                <a:latin typeface="Arial"/>
              </a:defRPr>
            </a:pPr>
            <a:r>
              <a:t>• Continuous Temporal Embeddings: Linear projection of block timestamps into continuous time-vectors, capturing evolving money laundering dynamics across 49 time-steps.</a:t>
            </a:r>
          </a:p>
          <a:p>
            <a:pPr>
              <a:spcBef>
                <a:spcPts val="500"/>
              </a:spcBef>
              <a:defRPr sz="1050">
                <a:solidFill>
                  <a:srgbClr val="3C4043"/>
                </a:solidFill>
                <a:latin typeface="Arial"/>
              </a:defRPr>
            </a:pPr>
            <a:r>
              <a:t>• Cost-Sensitive Loss Function: CrossEntropy loss with w_illicit = 7.63x to counter extreme class sparsity (&lt;10% illicit activity).</a:t>
            </a:r>
          </a:p>
          <a:p>
            <a:pPr>
              <a:spcBef>
                <a:spcPts val="500"/>
              </a:spcBef>
              <a:defRPr sz="1050">
                <a:solidFill>
                  <a:srgbClr val="3C4043"/>
                </a:solidFill>
                <a:latin typeface="Arial"/>
              </a:defRPr>
            </a:pPr>
            <a:r>
              <a:t>• Test Performance (Holdout Steps 35-49): Achieved AUC-ROC = 0.867 and high illicit recall = 0.697 within 18.84s of training.</a:t>
            </a:r>
          </a:p>
          <a:p>
            <a:pPr>
              <a:spcBef>
                <a:spcPts val="500"/>
              </a:spcBef>
              <a:defRPr sz="1050">
                <a:solidFill>
                  <a:srgbClr val="3C4043"/>
                </a:solidFill>
                <a:latin typeface="Arial"/>
              </a:defRPr>
            </a:pPr>
            <a:r>
              <a:t>• Beyond Classical Baselines: Implemented directly in response to faculty research standards (surpassing basic static ML/Random Forest models).</a:t>
            </a:r>
          </a:p>
        </p:txBody>
      </p:sp>
      <p:pic>
        <p:nvPicPr>
          <p:cNvPr id="7" name="Picture 6" descr="sota_d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212080" cy="18594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196F3"/>
                </a:solidFill>
                <a:latin typeface="Arial"/>
              </a:defRPr>
            </a:pPr>
            <a:r>
              <a:t>21CSC314P - BIG DATA ESSENTIALS |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Novel Proposed Hybrid Model: TGAT-BoostNet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Arial"/>
              </a:defRPr>
            </a:pPr>
            <a:r>
              <a:t>TGAT-BoostNet: Synergistic Hybrid Framework</a:t>
            </a:r>
          </a:p>
          <a:p>
            <a:pPr>
              <a:spcBef>
                <a:spcPts val="400"/>
              </a:spcBef>
              <a:defRPr sz="1000">
                <a:solidFill>
                  <a:srgbClr val="3C4043"/>
                </a:solidFill>
                <a:latin typeface="Arial"/>
              </a:defRPr>
            </a:pPr>
            <a:r>
              <a:t>• Model Name: TGAT-BoostNet (Spatio-Temporal Graph Attention Boosting Network).</a:t>
            </a:r>
          </a:p>
          <a:p>
            <a:pPr>
              <a:spcBef>
                <a:spcPts val="400"/>
              </a:spcBef>
              <a:defRPr sz="1000">
                <a:solidFill>
                  <a:srgbClr val="3C4043"/>
                </a:solidFill>
                <a:latin typeface="Arial"/>
              </a:defRPr>
            </a:pPr>
            <a:r>
              <a:t>• Stage 1 (Deep Attention Representation): 4-head Graph Attention Network (GAT) computes dynamic topological weights alpha_{i,j} over 234k payment edges and projects block timestamps into continuous time-vectors, outputting a 32-dim latent graph embedding.</a:t>
            </a:r>
          </a:p>
          <a:p>
            <a:pPr>
              <a:spcBef>
                <a:spcPts val="400"/>
              </a:spcBef>
              <a:defRPr sz="1000">
                <a:solidFill>
                  <a:srgbClr val="3C4043"/>
                </a:solidFill>
                <a:latin typeface="Arial"/>
              </a:defRPr>
            </a:pPr>
            <a:r>
              <a:t>• Stage 2 (Multi-Modal Manifold Fusion): Concatenates the 32-dim deep graph representation with the 165 raw transaction features into a 197-dimensional augmented feature space.</a:t>
            </a:r>
          </a:p>
          <a:p>
            <a:pPr>
              <a:spcBef>
                <a:spcPts val="400"/>
              </a:spcBef>
              <a:defRPr sz="1000">
                <a:solidFill>
                  <a:srgbClr val="3C4043"/>
                </a:solidFill>
                <a:latin typeface="Arial"/>
              </a:defRPr>
            </a:pPr>
            <a:r>
              <a:t>• Stage 3 (Cost-Sensitive Boosting Ensemble): Trains a distributed Gradient Boosted Decision Tree on the 197-dim space (w_illicit = 4.32x) and performs calibrated decision probability fusion: P_final = 0.65 * P_Boost + 0.35 * P_TGAT.</a:t>
            </a:r>
          </a:p>
          <a:p>
            <a:pPr>
              <a:spcBef>
                <a:spcPts val="400"/>
              </a:spcBef>
              <a:defRPr sz="1000">
                <a:solidFill>
                  <a:srgbClr val="3C4043"/>
                </a:solidFill>
                <a:latin typeface="Arial"/>
              </a:defRPr>
            </a:pPr>
            <a:r>
              <a:t>• Empirical Outcome: Achieved 0.739 Illicit Recall, 0.919 AUC-ROC, and 0.770 AP, combining deep topological learning with the tabular robustness of gradient boosting.</a:t>
            </a:r>
          </a:p>
        </p:txBody>
      </p:sp>
      <p:pic>
        <p:nvPicPr>
          <p:cNvPr id="7" name="Picture 6" descr="tgat_boostne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212080" cy="15527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